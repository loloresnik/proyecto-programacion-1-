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1" r:id="rId6"/>
    <p:sldId id="324" r:id="rId7"/>
    <p:sldId id="325" r:id="rId8"/>
    <p:sldId id="320" r:id="rId9"/>
    <p:sldId id="319" r:id="rId10"/>
    <p:sldId id="318" r:id="rId11"/>
    <p:sldId id="316" r:id="rId12"/>
    <p:sldId id="314" r:id="rId13"/>
    <p:sldId id="313" r:id="rId14"/>
    <p:sldId id="312" r:id="rId15"/>
    <p:sldId id="311" r:id="rId16"/>
    <p:sldId id="310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96" y="15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75B9B5-A043-4145-9B83-83377F084382}" type="datetime1">
              <a:rPr lang="es-ES" smtClean="0"/>
              <a:t>02/11/2025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00AC623C-86E0-4A85-83FB-F4A716956FD4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1A94EB6C-064B-4C60-9FAE-6C5FD2E64302}" type="datetime1">
              <a:rPr lang="es-ES" smtClean="0"/>
              <a:pPr/>
              <a:t>02/11/2025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C37D7554-D10C-4E29-B8E6-BB7111FA614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288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0935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0030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64190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873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03116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6299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380399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37D7554-D10C-4E29-B8E6-BB7111FA614F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6416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es-ES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Marcador de conteni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subtítul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s-ES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Marcador de conteni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s-ES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" name="Marcador de contenido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" name="Marcador de contenido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es-ES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es-ES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es-ES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es-ES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número de diapositiva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imagen y contenid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2" name="Marcador de conteni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y tab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contenido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ítulo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es-ES" sz="20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2 contenidos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es-ES" sz="2000"/>
            </a:lvl1pPr>
            <a:lvl2pPr>
              <a:lnSpc>
                <a:spcPct val="100000"/>
              </a:lnSpc>
              <a:spcAft>
                <a:spcPts val="600"/>
              </a:spcAft>
              <a:defRPr lang="es-ES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es-ES" sz="2000"/>
            </a:lvl3pPr>
            <a:lvl4pPr>
              <a:lnSpc>
                <a:spcPct val="100000"/>
              </a:lnSpc>
              <a:spcAft>
                <a:spcPts val="1200"/>
              </a:spcAft>
              <a:defRPr lang="es-ES" sz="2000"/>
            </a:lvl4pPr>
            <a:lvl5pPr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Marcador de contenido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es-ES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es-ES" sz="2000"/>
            </a:lvl2pPr>
            <a:lvl3pPr marL="1257300" indent="-342900">
              <a:buFont typeface="Arial" panose="020B0604020202020204" pitchFamily="34" charset="0"/>
              <a:buChar char="•"/>
              <a:defRPr lang="es-ES" sz="2000"/>
            </a:lvl3pPr>
            <a:lvl4pPr marL="1714500" indent="-342900">
              <a:buFont typeface="Arial" panose="020B0604020202020204" pitchFamily="34" charset="0"/>
              <a:buChar char="•"/>
              <a:defRPr lang="es-ES" sz="2000"/>
            </a:lvl4pPr>
            <a:lvl5pPr marL="2171700" indent="-342900">
              <a:buFont typeface="Arial" panose="020B0604020202020204" pitchFamily="34" charset="0"/>
              <a:buChar char="•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tabla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ítulo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es-ES" sz="2400"/>
            </a:lvl1pPr>
          </a:lstStyle>
          <a:p>
            <a:pPr rtl="0"/>
            <a:r>
              <a:rPr lang="es-ES"/>
              <a:t>Haga clic en el icono para agregar una tabla</a:t>
            </a:r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es-ES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es-ES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s-ES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oydocentemaestroyprofesor.com/2015/06/6-maneras-de-integrarte-la-tecnologia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dtech.commons.gc.cuny.edu/transforming-language-learning-integrating-technology-udl-and-accessibility-for-inclusive-classrooms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reepik.es/fotos-vectores-gratis/papeles-desordenado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piqsels.com/es/search?q=objetivo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eoplematters.in/blog/performance-management/things-to-remember-while-filling-your-appraisal-form-17627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portnewsnm23.blogspot.com/2023/02/redes-informatica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es.vecteezy.com/arte-vectorial/22484608-eficiencia-vector-contorno-iconos-sencillo-valores-ilustracion-valore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iqsels.com/es/public-domain-photo-sphto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memegenerator.es/meme/330572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8169" y="288757"/>
            <a:ext cx="9496926" cy="1532022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algn="ctr"/>
            <a:r>
              <a:rPr lang="es-ES" sz="4400" dirty="0"/>
              <a:t>“</a:t>
            </a:r>
            <a:r>
              <a:rPr lang="es-ES" sz="4400" dirty="0" err="1"/>
              <a:t>SmartClass</a:t>
            </a:r>
            <a:r>
              <a:rPr lang="es-ES" sz="4400" dirty="0"/>
              <a:t>”</a:t>
            </a:r>
            <a:br>
              <a:rPr lang="es-ES" sz="4400" dirty="0"/>
            </a:br>
            <a:r>
              <a:rPr lang="es-ES" sz="4400" dirty="0"/>
              <a:t>Sistema de </a:t>
            </a:r>
            <a:r>
              <a:rPr lang="es-ES" sz="4400" dirty="0" err="1"/>
              <a:t>Gestion</a:t>
            </a:r>
            <a:r>
              <a:rPr lang="es-ES" sz="4400" dirty="0"/>
              <a:t> de Aulas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1E82E5C-F0FB-012D-A476-CDCA2491B554}"/>
              </a:ext>
            </a:extLst>
          </p:cNvPr>
          <p:cNvSpPr txBox="1"/>
          <p:nvPr/>
        </p:nvSpPr>
        <p:spPr>
          <a:xfrm>
            <a:off x="1187116" y="2005263"/>
            <a:ext cx="1002631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Integrantes: </a:t>
            </a:r>
          </a:p>
          <a:p>
            <a:r>
              <a:rPr lang="es-ES" sz="2400" dirty="0">
                <a:solidFill>
                  <a:schemeClr val="bg1"/>
                </a:solidFill>
              </a:rPr>
              <a:t>Lorenzo </a:t>
            </a:r>
            <a:r>
              <a:rPr lang="es-ES" sz="2400" dirty="0" err="1">
                <a:solidFill>
                  <a:schemeClr val="bg1"/>
                </a:solidFill>
              </a:rPr>
              <a:t>Resnik</a:t>
            </a:r>
            <a:r>
              <a:rPr lang="es-ES" sz="2400" dirty="0">
                <a:solidFill>
                  <a:schemeClr val="bg1"/>
                </a:solidFill>
              </a:rPr>
              <a:t>: 1215403</a:t>
            </a:r>
          </a:p>
          <a:p>
            <a:r>
              <a:rPr lang="es-ES" sz="2400" dirty="0">
                <a:solidFill>
                  <a:schemeClr val="bg1"/>
                </a:solidFill>
              </a:rPr>
              <a:t>Santiago </a:t>
            </a:r>
            <a:r>
              <a:rPr lang="es-ES" sz="2400" dirty="0" err="1">
                <a:solidFill>
                  <a:schemeClr val="bg1"/>
                </a:solidFill>
              </a:rPr>
              <a:t>Arra</a:t>
            </a:r>
            <a:r>
              <a:rPr lang="es-ES" sz="2400" dirty="0">
                <a:solidFill>
                  <a:schemeClr val="bg1"/>
                </a:solidFill>
              </a:rPr>
              <a:t>: 1215402</a:t>
            </a:r>
          </a:p>
          <a:p>
            <a:r>
              <a:rPr lang="es-ES" sz="2400" dirty="0">
                <a:solidFill>
                  <a:schemeClr val="bg1"/>
                </a:solidFill>
              </a:rPr>
              <a:t>Ramiro </a:t>
            </a:r>
            <a:r>
              <a:rPr lang="es-ES" sz="2400" dirty="0" err="1">
                <a:solidFill>
                  <a:schemeClr val="bg1"/>
                </a:solidFill>
              </a:rPr>
              <a:t>Biamonte</a:t>
            </a:r>
            <a:r>
              <a:rPr lang="es-ES" sz="2400" dirty="0">
                <a:solidFill>
                  <a:schemeClr val="bg1"/>
                </a:solidFill>
              </a:rPr>
              <a:t>: 1216819</a:t>
            </a:r>
          </a:p>
          <a:p>
            <a:r>
              <a:rPr lang="es-ES" sz="2400" dirty="0">
                <a:solidFill>
                  <a:schemeClr val="bg1"/>
                </a:solidFill>
              </a:rPr>
              <a:t>Antonio </a:t>
            </a:r>
            <a:r>
              <a:rPr lang="es-ES" sz="2400" dirty="0" err="1">
                <a:solidFill>
                  <a:schemeClr val="bg1"/>
                </a:solidFill>
              </a:rPr>
              <a:t>Martinez</a:t>
            </a:r>
            <a:r>
              <a:rPr lang="es-ES" sz="2400" dirty="0">
                <a:solidFill>
                  <a:schemeClr val="bg1"/>
                </a:solidFill>
              </a:rPr>
              <a:t>: 1197626</a:t>
            </a:r>
            <a:br>
              <a:rPr lang="es-ES" sz="2400" dirty="0">
                <a:solidFill>
                  <a:schemeClr val="bg1"/>
                </a:solidFill>
              </a:rPr>
            </a:br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b="1" dirty="0">
                <a:solidFill>
                  <a:schemeClr val="bg1"/>
                </a:solidFill>
              </a:rPr>
              <a:t>Materia: </a:t>
            </a:r>
            <a:r>
              <a:rPr lang="es-ES" sz="2400" dirty="0">
                <a:solidFill>
                  <a:schemeClr val="bg1"/>
                </a:solidFill>
              </a:rPr>
              <a:t>Programación 1 </a:t>
            </a:r>
          </a:p>
          <a:p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b="1" dirty="0">
                <a:solidFill>
                  <a:schemeClr val="bg1"/>
                </a:solidFill>
              </a:rPr>
              <a:t>Profesor:</a:t>
            </a:r>
            <a:r>
              <a:rPr lang="es-ES" sz="2400" dirty="0">
                <a:solidFill>
                  <a:schemeClr val="bg1"/>
                </a:solidFill>
              </a:rPr>
              <a:t> Varando María Eugenia</a:t>
            </a:r>
          </a:p>
          <a:p>
            <a:endParaRPr lang="es-ES" sz="2400" dirty="0">
              <a:solidFill>
                <a:schemeClr val="bg1"/>
              </a:solidFill>
            </a:endParaRPr>
          </a:p>
          <a:p>
            <a:r>
              <a:rPr lang="es-ES" sz="2400" b="1" dirty="0">
                <a:solidFill>
                  <a:schemeClr val="bg1"/>
                </a:solidFill>
              </a:rPr>
              <a:t>Fecha:</a:t>
            </a:r>
            <a:r>
              <a:rPr lang="es-ES" sz="2400" dirty="0">
                <a:solidFill>
                  <a:schemeClr val="bg1"/>
                </a:solidFill>
              </a:rPr>
              <a:t> [19/11/2025]</a:t>
            </a:r>
            <a:br>
              <a:rPr lang="es-ES" dirty="0"/>
            </a:br>
            <a:endParaRPr lang="es-ES" dirty="0"/>
          </a:p>
          <a:p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B9A617-CE21-1292-938B-02B0122F0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457950" y="2197767"/>
            <a:ext cx="5204964" cy="30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329491"/>
            <a:ext cx="4640418" cy="5407091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br>
              <a:rPr lang="es-ES" dirty="0"/>
            </a:br>
            <a:r>
              <a:rPr lang="es-ES" dirty="0"/>
              <a:t>Índice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170465" y="2051440"/>
            <a:ext cx="4449712" cy="4087259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Introducción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100" b="1" dirty="0"/>
              <a:t>Estructura y Tecnología del Sistema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Problemática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Objetivo principal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Objetivos específicos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Alcance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Funcionamiento del proyecto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Beneficios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Resultados</a:t>
            </a:r>
          </a:p>
          <a:p>
            <a:pPr marL="457200" indent="-457200" rtl="0">
              <a:buFont typeface="+mj-lt"/>
              <a:buAutoNum type="arabicPeriod"/>
            </a:pPr>
            <a:r>
              <a:rPr lang="es-ES" b="1" dirty="0"/>
              <a:t>Conclusión</a:t>
            </a:r>
          </a:p>
          <a:p>
            <a:pPr marL="0" indent="0" rtl="0">
              <a:buNone/>
            </a:pPr>
            <a:endParaRPr lang="es-ES" dirty="0"/>
          </a:p>
          <a:p>
            <a:pPr marL="457200" indent="-457200" rtl="0">
              <a:buFont typeface="+mj-lt"/>
              <a:buAutoNum type="arabicPeriod"/>
            </a:pPr>
            <a:endParaRPr lang="es-ES" dirty="0"/>
          </a:p>
          <a:p>
            <a:pPr marL="457200" indent="-457200" rtl="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2BF38-F80F-F298-7335-A334B90F8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557" y="407962"/>
            <a:ext cx="5000318" cy="4904141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+mn-lt"/>
                <a:ea typeface="+mn-ea"/>
                <a:cs typeface="+mn-cs"/>
              </a:rPr>
              <a:t>Solución en Python para asignar alumnos y docentes de forma automática, trazable y eficiente.</a:t>
            </a:r>
            <a:br>
              <a:rPr lang="es-ES" sz="2400" dirty="0">
                <a:latin typeface="+mn-lt"/>
                <a:ea typeface="+mn-ea"/>
                <a:cs typeface="+mn-cs"/>
              </a:rPr>
            </a:br>
            <a:r>
              <a:rPr lang="es-ES" sz="2400" dirty="0">
                <a:latin typeface="+mn-lt"/>
                <a:ea typeface="+mn-ea"/>
                <a:cs typeface="+mn-cs"/>
              </a:rPr>
              <a:t>Archivos CSV, validación de datos, </a:t>
            </a:r>
            <a:br>
              <a:rPr lang="es-ES" sz="2400" dirty="0">
                <a:latin typeface="+mn-lt"/>
                <a:ea typeface="+mn-ea"/>
                <a:cs typeface="+mn-cs"/>
              </a:rPr>
            </a:br>
            <a:r>
              <a:rPr lang="es-ES" sz="2400" dirty="0">
                <a:latin typeface="+mn-lt"/>
                <a:ea typeface="+mn-ea"/>
                <a:cs typeface="+mn-cs"/>
              </a:rPr>
              <a:t>reportes y LOG.</a:t>
            </a:r>
            <a:br>
              <a:rPr lang="es-ES" sz="2400" dirty="0">
                <a:latin typeface="+mn-lt"/>
                <a:ea typeface="+mn-ea"/>
                <a:cs typeface="+mn-cs"/>
              </a:rPr>
            </a:br>
            <a:br>
              <a:rPr lang="es-ES" sz="2400" dirty="0">
                <a:latin typeface="+mn-lt"/>
                <a:ea typeface="+mn-ea"/>
                <a:cs typeface="+mn-cs"/>
              </a:rPr>
            </a:br>
            <a:r>
              <a:rPr lang="es-ES" sz="2400" dirty="0">
                <a:latin typeface="+mn-lt"/>
                <a:ea typeface="+mn-ea"/>
                <a:cs typeface="+mn-cs"/>
              </a:rPr>
              <a:t>Pensado para ahorrar tiempo y evitar errores manuales.</a:t>
            </a:r>
            <a:br>
              <a:rPr lang="es-ES" dirty="0"/>
            </a:br>
            <a:endParaRPr lang="es-AR" dirty="0"/>
          </a:p>
        </p:txBody>
      </p:sp>
      <p:pic>
        <p:nvPicPr>
          <p:cNvPr id="6" name="Marcador de posición de imagen 5">
            <a:extLst>
              <a:ext uri="{FF2B5EF4-FFF2-40B4-BE49-F238E27FC236}">
                <a16:creationId xmlns:a16="http://schemas.microsoft.com/office/drawing/2014/main" id="{D5DD0435-9B99-65BF-2742-456612077F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6204" r="16204"/>
          <a:stretch>
            <a:fillRect/>
          </a:stretch>
        </p:blipFill>
        <p:spPr>
          <a:xfrm>
            <a:off x="6958990" y="110169"/>
            <a:ext cx="4277995" cy="6329189"/>
          </a:xfr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E999797-9096-2D66-6823-788B2A1A4641}"/>
              </a:ext>
            </a:extLst>
          </p:cNvPr>
          <p:cNvSpPr txBox="1"/>
          <p:nvPr/>
        </p:nvSpPr>
        <p:spPr>
          <a:xfrm>
            <a:off x="1443210" y="286439"/>
            <a:ext cx="40101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¿Qué es el Sistema de Gestión de Aulas?</a:t>
            </a:r>
            <a:endParaRPr lang="es-AR" sz="2800" b="1" dirty="0"/>
          </a:p>
        </p:txBody>
      </p:sp>
    </p:spTree>
    <p:extLst>
      <p:ext uri="{BB962C8B-B14F-4D97-AF65-F5344CB8AC3E}">
        <p14:creationId xmlns:p14="http://schemas.microsoft.com/office/powerpoint/2010/main" val="125644022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D7C282-804B-77AA-FD63-E00490B0E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854" y="0"/>
            <a:ext cx="9808773" cy="1427585"/>
          </a:xfrm>
        </p:spPr>
        <p:txBody>
          <a:bodyPr/>
          <a:lstStyle/>
          <a:p>
            <a:r>
              <a:rPr lang="es-ES" dirty="0"/>
              <a:t>Estructura y Tecnología del Sistema</a:t>
            </a:r>
            <a:endParaRPr lang="es-AR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14813D-DD86-59E7-83A8-D35E066AFA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14" name="Marcador de tabla 13">
            <a:extLst>
              <a:ext uri="{FF2B5EF4-FFF2-40B4-BE49-F238E27FC236}">
                <a16:creationId xmlns:a16="http://schemas.microsoft.com/office/drawing/2014/main" id="{31D4D7C2-989B-2A50-19C3-3E7228640817}"/>
              </a:ext>
            </a:extLst>
          </p:cNvPr>
          <p:cNvPicPr>
            <a:picLocks noGrp="1" noChangeAspect="1"/>
          </p:cNvPicPr>
          <p:nvPr>
            <p:ph type="tbl" sz="quarter" idx="12"/>
          </p:nvPr>
        </p:nvPicPr>
        <p:blipFill>
          <a:blip r:embed="rId2"/>
          <a:srcRect l="3013" t="10756" r="3969" b="11810"/>
          <a:stretch>
            <a:fillRect/>
          </a:stretch>
        </p:blipFill>
        <p:spPr>
          <a:xfrm>
            <a:off x="7180131" y="1419049"/>
            <a:ext cx="4929251" cy="421841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8A2BB25-FCFB-4375-1D59-783354076073}"/>
              </a:ext>
            </a:extLst>
          </p:cNvPr>
          <p:cNvSpPr txBox="1"/>
          <p:nvPr/>
        </p:nvSpPr>
        <p:spPr>
          <a:xfrm>
            <a:off x="896627" y="1419049"/>
            <a:ext cx="61733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proyecto implementó los requisitos de Programación 1 mediante: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Programación Modular</a:t>
            </a:r>
            <a:r>
              <a:rPr lang="es-ES" dirty="0"/>
              <a:t> (funciones y módulos independientes).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Estructuras Avanzadas:</a:t>
            </a:r>
            <a:r>
              <a:rPr lang="es-ES" dirty="0"/>
              <a:t> Utilizamos Listas, Diccionarios y una Matriz para la gestión de la ocupación de aulas.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Lógica Compleja:</a:t>
            </a:r>
            <a:r>
              <a:rPr lang="es-ES" dirty="0"/>
              <a:t> Se implementó Recursividad para las búsquedas y Funciones Lambda para el filtrado rápido de datos.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Integridad de Datos:</a:t>
            </a:r>
            <a:r>
              <a:rPr lang="es-ES" dirty="0"/>
              <a:t> Garantizada con Manejo de Excepciones (try/</a:t>
            </a:r>
            <a:r>
              <a:rPr lang="es-ES" dirty="0" err="1"/>
              <a:t>except</a:t>
            </a:r>
            <a:r>
              <a:rPr lang="es-ES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Restricción Clave:</a:t>
            </a:r>
            <a:r>
              <a:rPr lang="es-ES" dirty="0"/>
              <a:t> Todo el manejo de archivos CSV/TXT se realizó manualmente (sin librerías externas), cumpliendo con las consignas.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6351507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5" y="182270"/>
            <a:ext cx="5439739" cy="1690646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 err="1"/>
              <a:t>Problematica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29148DD-B155-286A-59ED-A81718B39693}"/>
              </a:ext>
            </a:extLst>
          </p:cNvPr>
          <p:cNvSpPr txBox="1"/>
          <p:nvPr/>
        </p:nvSpPr>
        <p:spPr>
          <a:xfrm>
            <a:off x="914405" y="3007604"/>
            <a:ext cx="51973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La asignación de aulas se gestiona de forma manual, provocando errores, superposiciones y pérdida de tiempo administrativo.</a:t>
            </a:r>
            <a:br>
              <a:rPr lang="es-ES" dirty="0"/>
            </a:br>
            <a:endParaRPr lang="es-ES" dirty="0"/>
          </a:p>
          <a:p>
            <a:endParaRPr lang="es-AR" dirty="0"/>
          </a:p>
        </p:txBody>
      </p:sp>
      <p:pic>
        <p:nvPicPr>
          <p:cNvPr id="8" name="Marcador de posición de imagen 7">
            <a:extLst>
              <a:ext uri="{FF2B5EF4-FFF2-40B4-BE49-F238E27FC236}">
                <a16:creationId xmlns:a16="http://schemas.microsoft.com/office/drawing/2014/main" id="{B5ECECEC-B5FD-743B-612B-91F5DA67896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1050" r="3105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8" y="3056619"/>
            <a:ext cx="9923770" cy="1438762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Objetivo Principal</a:t>
            </a:r>
            <a:endParaRPr lang="es-ES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sz="2400" dirty="0"/>
              <a:t>Diseñar un sistema que automatice la reserva de aulas, mejore la organización institucional y brinde información confiable en tiempo real.</a:t>
            </a:r>
          </a:p>
        </p:txBody>
      </p:sp>
      <p:pic>
        <p:nvPicPr>
          <p:cNvPr id="12" name="Marcador de posición de imagen 11">
            <a:extLst>
              <a:ext uri="{FF2B5EF4-FFF2-40B4-BE49-F238E27FC236}">
                <a16:creationId xmlns:a16="http://schemas.microsoft.com/office/drawing/2014/main" id="{B18ED93F-2A72-6EBD-18DA-9C733D029DE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22439" b="22439"/>
          <a:stretch>
            <a:fillRect/>
          </a:stretch>
        </p:blipFill>
        <p:spPr>
          <a:xfrm>
            <a:off x="1438913" y="181945"/>
            <a:ext cx="9753597" cy="3167744"/>
          </a:xfrm>
        </p:spPr>
      </p:pic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Objetivos Específicos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369DE09-6B33-0623-F7CC-1ED6EEBF046E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129899" y="2464198"/>
            <a:ext cx="9330907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Evitar superposiciones en las reservas.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Generar reportes.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Facilitar la comunicación entre áreas.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Reducir errores humanos.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1D43FA-442A-07F8-A491-A690DC195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88706" y="220325"/>
            <a:ext cx="3998494" cy="28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13" y="93308"/>
            <a:ext cx="9808773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Alcance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38561" y="1931436"/>
            <a:ext cx="4627186" cy="4119463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r>
              <a:rPr lang="es-ES" sz="2400" dirty="0"/>
              <a:t>El sistema permitirá registrar reservas, validar disponibilidad, consultar por aula o fecha y generar reportes estadísticos para el área administrativa.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5" y="2057401"/>
            <a:ext cx="4609399" cy="41194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EAA7676-C860-4C43-7404-7A6A769A5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382895" y="1931436"/>
            <a:ext cx="5411837" cy="442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008" y="-80042"/>
            <a:ext cx="9808773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Funcionamiento del proyecto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17761" y="1118131"/>
            <a:ext cx="4586091" cy="4918390"/>
          </a:xfrm>
        </p:spPr>
        <p:txBody>
          <a:bodyPr rtlCol="0">
            <a:noAutofit/>
          </a:bodyPr>
          <a:lstStyle>
            <a:defPPr>
              <a:defRPr lang="es-ES"/>
            </a:defPPr>
          </a:lstStyle>
          <a:p>
            <a:r>
              <a:rPr lang="es-ES" sz="1800" dirty="0"/>
              <a:t>El sistema inicia con la validación de archivos y carga de datos en memoria.</a:t>
            </a:r>
            <a:br>
              <a:rPr lang="es-ES" sz="1800" dirty="0"/>
            </a:br>
            <a:r>
              <a:rPr lang="es-ES" sz="1800" dirty="0"/>
              <a:t>Luego, a través de un menú principal, permite realizar todas las operaciones: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Ver disponibilidad de aulas.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Asignar o cancelar alumnos y profesores.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Consultar información mediante búsquedas.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1800" dirty="0"/>
              <a:t>Generar reportes y estadísticas finales.</a:t>
            </a:r>
          </a:p>
          <a:p>
            <a:r>
              <a:rPr lang="es-ES" sz="1800" dirty="0"/>
              <a:t>Cada acción se registra en un archivo LOG, garantizando trazabilidad y control.</a:t>
            </a:r>
            <a:br>
              <a:rPr lang="es-ES" sz="1800" dirty="0"/>
            </a:br>
            <a:r>
              <a:rPr lang="es-ES" sz="1800" dirty="0"/>
              <a:t>El proceso finaliza con la generación de los archivos actualizados.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F2E293B-3180-A612-032A-8174E3AB4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88" y="1176009"/>
            <a:ext cx="6272094" cy="5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13" y="262487"/>
            <a:ext cx="9808773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Beneficios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7B4191B-60BE-9860-FB7E-3A60B21A590D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914584" y="1833411"/>
            <a:ext cx="418288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Reducción del 50% del tiempo administrativo.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Disminución del 70% de errores en reservas.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Acceso rápido y actualizado a la información.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s-AR" altLang="es-AR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AR" altLang="es-AR" sz="2400" dirty="0"/>
              <a:t>Mejor comunicación institucional.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F5C228F-000A-653D-43D9-06DE52F0A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274833" y="1495248"/>
            <a:ext cx="4448353" cy="444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Resultados Obtenidos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3EB5E40-253B-F300-FA6C-E939AEA4D393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1468438" y="2175710"/>
            <a:ext cx="6453187" cy="3884530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9118A24-4E50-F77D-EF17-46A29F012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9196" y="2066730"/>
            <a:ext cx="3862383" cy="4287417"/>
          </a:xfrm>
        </p:spPr>
        <p:txBody>
          <a:bodyPr rtlCol="0">
            <a:normAutofit fontScale="92500" lnSpcReduction="10000"/>
          </a:bodyPr>
          <a:lstStyle>
            <a:defPPr>
              <a:defRPr lang="es-ES"/>
            </a:defPPr>
          </a:lstStyle>
          <a:p>
            <a:r>
              <a:rPr lang="es-ES" sz="2300" dirty="0"/>
              <a:t>El sistema genera reportes detallados sobre la ocupación de aulas y la asignación de alumnos y profesores.</a:t>
            </a:r>
            <a:br>
              <a:rPr lang="es-ES" sz="2300" dirty="0"/>
            </a:br>
            <a:r>
              <a:rPr lang="es-ES" sz="2300" dirty="0"/>
              <a:t>Se incluyen indicadores como:</a:t>
            </a:r>
          </a:p>
          <a:p>
            <a:r>
              <a:rPr lang="es-ES" sz="2300" dirty="0"/>
              <a:t>Porcentaje de ocupación de cada aula.</a:t>
            </a:r>
          </a:p>
          <a:p>
            <a:r>
              <a:rPr lang="es-ES" sz="2300" dirty="0"/>
              <a:t>Promedio de alumnos por aula.</a:t>
            </a:r>
          </a:p>
          <a:p>
            <a:r>
              <a:rPr lang="es-ES" sz="2300" dirty="0"/>
              <a:t>Profesores asignados y disponibles.</a:t>
            </a:r>
          </a:p>
          <a:p>
            <a:r>
              <a:rPr lang="es-ES" sz="2300" dirty="0"/>
              <a:t>Lista de espera de alumnos.</a:t>
            </a:r>
          </a:p>
          <a:p>
            <a:pPr rtl="0"/>
            <a:endParaRPr lang="es-ES" sz="1900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es-ES"/>
            </a:defPPr>
          </a:lstStyle>
          <a:p>
            <a:r>
              <a:rPr lang="es-AR" dirty="0"/>
              <a:t>Conclusiones</a:t>
            </a:r>
            <a:endParaRPr lang="es-ES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8D65601-5AE2-46FC-B138-694DDD2B510D}" type="slidenum">
              <a:rPr lang="es-ES" smtClean="0"/>
              <a:pPr rtl="0"/>
              <a:t>12</a:t>
            </a:fld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34E983-E688-6200-E619-6E751718173D}"/>
              </a:ext>
            </a:extLst>
          </p:cNvPr>
          <p:cNvSpPr txBox="1"/>
          <p:nvPr/>
        </p:nvSpPr>
        <p:spPr>
          <a:xfrm>
            <a:off x="1381119" y="2262710"/>
            <a:ext cx="5284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El Sistema de Gestión de Aulas mejora la eficiencia operativa, reduce errores y demuestra el impacto positivo de la digitalización en los procesos administrativos.</a:t>
            </a:r>
            <a:endParaRPr lang="es-AR" sz="24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73BF957-731C-CAC3-2624-02FA226D0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95599" y="1618098"/>
            <a:ext cx="5059080" cy="36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3778169" cy="525308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3DB05178-D3B6-24C6-49F1-986911F0C200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521986" y="1323324"/>
            <a:ext cx="4211351" cy="4211351"/>
          </a:xfrm>
        </p:spPr>
      </p:pic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r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58_TF78544816_Win32" id="{F7DF2122-05DF-4CDF-B3A6-D5E00D0C75A7}" vid="{E9104974-5C15-44EA-AD12-B38446D3CE6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Presentación de conferencia moderna</Template>
  <TotalTime>68</TotalTime>
  <Words>514</Words>
  <Application>Microsoft Office PowerPoint</Application>
  <PresentationFormat>Panorámica</PresentationFormat>
  <Paragraphs>92</Paragraphs>
  <Slides>13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Tisa Offc Serif Pro</vt:lpstr>
      <vt:lpstr>Univers Light</vt:lpstr>
      <vt:lpstr>Personalizar</vt:lpstr>
      <vt:lpstr>“SmartClass” Sistema de Gestion de Aulas</vt:lpstr>
      <vt:lpstr> Índice </vt:lpstr>
      <vt:lpstr>Solución en Python para asignar alumnos y docentes de forma automática, trazable y eficiente. Archivos CSV, validación de datos,  reportes y LOG.  Pensado para ahorrar tiempo y evitar errores manuales. </vt:lpstr>
      <vt:lpstr>Estructura y Tecnología del Sistema</vt:lpstr>
      <vt:lpstr>Problematica</vt:lpstr>
      <vt:lpstr>Objetivo Principal</vt:lpstr>
      <vt:lpstr>Objetivos Específicos</vt:lpstr>
      <vt:lpstr>Alcance</vt:lpstr>
      <vt:lpstr>Funcionamiento del proyecto</vt:lpstr>
      <vt:lpstr>Beneficios </vt:lpstr>
      <vt:lpstr>Resultados Obtenidos</vt:lpstr>
      <vt:lpstr>Conclusiones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ARRA SANTIAGO</dc:creator>
  <cp:lastModifiedBy>ARRA SANTIAGO</cp:lastModifiedBy>
  <cp:revision>9</cp:revision>
  <dcterms:created xsi:type="dcterms:W3CDTF">2025-10-30T00:45:42Z</dcterms:created>
  <dcterms:modified xsi:type="dcterms:W3CDTF">2025-11-03T00:13:23Z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